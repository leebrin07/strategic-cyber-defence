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28"/>
  </p:notesMasterIdLst>
  <p:handoutMasterIdLst>
    <p:handoutMasterId r:id="rId29"/>
  </p:handoutMasterIdLst>
  <p:sldIdLst>
    <p:sldId id="277" r:id="rId4"/>
    <p:sldId id="399" r:id="rId5"/>
    <p:sldId id="408" r:id="rId6"/>
    <p:sldId id="400" r:id="rId7"/>
    <p:sldId id="409" r:id="rId8"/>
    <p:sldId id="401" r:id="rId9"/>
    <p:sldId id="410" r:id="rId10"/>
    <p:sldId id="402" r:id="rId11"/>
    <p:sldId id="411" r:id="rId12"/>
    <p:sldId id="403" r:id="rId13"/>
    <p:sldId id="412" r:id="rId14"/>
    <p:sldId id="404" r:id="rId15"/>
    <p:sldId id="413" r:id="rId16"/>
    <p:sldId id="405" r:id="rId17"/>
    <p:sldId id="414" r:id="rId18"/>
    <p:sldId id="415" r:id="rId19"/>
    <p:sldId id="421" r:id="rId20"/>
    <p:sldId id="417" r:id="rId21"/>
    <p:sldId id="406" r:id="rId22"/>
    <p:sldId id="418" r:id="rId23"/>
    <p:sldId id="419" r:id="rId24"/>
    <p:sldId id="420" r:id="rId25"/>
    <p:sldId id="422" r:id="rId26"/>
    <p:sldId id="40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178" autoAdjust="0"/>
    <p:restoredTop sz="94660" autoAdjust="0"/>
  </p:normalViewPr>
  <p:slideViewPr>
    <p:cSldViewPr snapToGrid="0">
      <p:cViewPr varScale="1">
        <p:scale>
          <a:sx n="100" d="100"/>
          <a:sy n="100" d="100"/>
        </p:scale>
        <p:origin x="184" y="9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79076" y="2705802"/>
            <a:ext cx="6829425" cy="1754326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COMPUTER SCIENCE WITH SPECIALIZATION IN</a:t>
            </a:r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ARTIFICIAL INTELLIGENCE AND MACHINE LEARNING</a:t>
            </a:r>
            <a:endParaRPr lang="en-US" sz="24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 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11180" y="6198822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725254" y="3031"/>
            <a:ext cx="11201399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600" b="1" dirty="0">
                <a:latin typeface="Arial Black" pitchFamily="34" charset="0"/>
              </a:rPr>
              <a:t>STRATEGIC CYBER-DEFENCE: Analysis of Modern Cyber-Warfare Tactics and National Security Protections</a:t>
            </a:r>
            <a:endParaRPr lang="en-US" sz="3600" dirty="0">
              <a:latin typeface="Raleway ExtraBold" pitchFamily="34" charset="-52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1710" y="4728438"/>
            <a:ext cx="483331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/>
              <a:t>NAME OF THE STUDENT: Brian Edwin Kihore </a:t>
            </a:r>
          </a:p>
          <a:p>
            <a:r>
              <a:rPr lang="en-US" sz="2000" dirty="0"/>
              <a:t>UNIVERSITY ROLL NUMBER: 22BIS70024</a:t>
            </a:r>
          </a:p>
          <a:p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931499" y="4874846"/>
            <a:ext cx="4130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Under the Supervision of: </a:t>
            </a:r>
            <a:endParaRPr lang="en-US" sz="2000" dirty="0"/>
          </a:p>
          <a:p>
            <a:r>
              <a:rPr lang="en-US" sz="2000" dirty="0"/>
              <a:t>SUPERVISORS NAME: Shakshi </a:t>
            </a:r>
            <a:r>
              <a:rPr lang="en-US" sz="2000" dirty="0" err="1"/>
              <a:t>Kattna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5" y="365126"/>
            <a:ext cx="11135339" cy="97620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The Problem: The Digital </a:t>
            </a:r>
            <a:r>
              <a:rPr lang="en-US" dirty="0" err="1">
                <a:latin typeface="Times New Roman"/>
                <a:cs typeface="Times New Roman"/>
              </a:rPr>
              <a:t>Batlefield</a:t>
            </a:r>
            <a:r>
              <a:rPr lang="en-US" dirty="0">
                <a:latin typeface="Times New Roman"/>
                <a:cs typeface="Times New Roman"/>
              </a:rPr>
              <a:t> is changing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1332"/>
            <a:ext cx="10515600" cy="5199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Reactive </a:t>
            </a:r>
            <a:r>
              <a:rPr lang="en-US" dirty="0" err="1"/>
              <a:t>Defence</a:t>
            </a:r>
            <a:r>
              <a:rPr lang="en-US" dirty="0"/>
              <a:t> is Failing Against Strategic Cyber-Warfare.</a:t>
            </a:r>
          </a:p>
          <a:p>
            <a:pPr marL="0" indent="0">
              <a:buNone/>
            </a:pPr>
            <a:r>
              <a:rPr lang="en-US" dirty="0"/>
              <a:t>A critical misalignment exists between dynamic, state-sponsored cyber campaigns and static, compliance-based national </a:t>
            </a:r>
            <a:r>
              <a:rPr lang="en-US" dirty="0" err="1"/>
              <a:t>defences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Attacks like </a:t>
            </a:r>
            <a:r>
              <a:rPr lang="en-US" b="1" dirty="0"/>
              <a:t>SolarWinds </a:t>
            </a:r>
            <a:r>
              <a:rPr lang="en-US" dirty="0"/>
              <a:t>and </a:t>
            </a:r>
            <a:r>
              <a:rPr lang="en-US" b="1" dirty="0" err="1"/>
              <a:t>MOVEit</a:t>
            </a:r>
            <a:r>
              <a:rPr lang="en-US" b="1" dirty="0"/>
              <a:t> </a:t>
            </a:r>
            <a:r>
              <a:rPr lang="en-US" dirty="0"/>
              <a:t> are not just IT issues; they are tools of espionage, coercion, and disruption.</a:t>
            </a:r>
          </a:p>
          <a:p>
            <a:pPr marL="0" indent="0">
              <a:buNone/>
            </a:pPr>
            <a:r>
              <a:rPr lang="en-US" dirty="0"/>
              <a:t>Current models are siloed. We lack an integrated framework that connects technical </a:t>
            </a:r>
            <a:r>
              <a:rPr lang="en-US" dirty="0" err="1"/>
              <a:t>defence</a:t>
            </a:r>
            <a:r>
              <a:rPr lang="en-US" dirty="0"/>
              <a:t> to national security outcomes.</a:t>
            </a:r>
          </a:p>
          <a:p>
            <a:pPr marL="0" indent="0">
              <a:buNone/>
            </a:pPr>
            <a:r>
              <a:rPr lang="en-US" dirty="0"/>
              <a:t>A simple graphic showing a shield (Traditional </a:t>
            </a:r>
            <a:r>
              <a:rPr lang="en-US" dirty="0" err="1"/>
              <a:t>defence</a:t>
            </a:r>
            <a:r>
              <a:rPr lang="en-US" dirty="0"/>
              <a:t>) failing to stop multiple, diverse attack vectors (</a:t>
            </a:r>
            <a:r>
              <a:rPr lang="en-US" dirty="0" err="1"/>
              <a:t>e.g</a:t>
            </a:r>
            <a:r>
              <a:rPr lang="en-US" dirty="0"/>
              <a:t>, Phishing, Supply chain, Ransomware)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31B4-4EDC-ACAA-411C-BCF73E6F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7C24-5D29-0E07-1010-AF3A567E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75" y="365126"/>
            <a:ext cx="11135339" cy="976206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/>
                <a:cs typeface="Times New Roman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DE067-C22C-F9EF-DA30-ABA3F797B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332"/>
            <a:ext cx="10515600" cy="5199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Modern cyber warfare has expanded geopolitical conflict into cyberspace.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State and non-state actors use advanced tactics including APTs, AI-enabled attacks, and supply-chain compromises.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Study analyses 2,847 cyber incidents (2015–2024). Introduces </a:t>
            </a:r>
            <a:r>
              <a:rPr lang="en-US" b="1" dirty="0"/>
              <a:t>Multi-Layered Strategic </a:t>
            </a:r>
            <a:r>
              <a:rPr lang="en-US" b="1" dirty="0" err="1"/>
              <a:t>Defence</a:t>
            </a:r>
            <a:r>
              <a:rPr lang="en-US" b="1" dirty="0"/>
              <a:t> Model (MLSDM)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Intelligence-based defense improves threat mitigation </a:t>
            </a:r>
            <a:r>
              <a:rPr lang="en-US" b="1" dirty="0"/>
              <a:t>47–63× faster</a:t>
            </a:r>
            <a:r>
              <a:rPr lang="en-US" dirty="0"/>
              <a:t> than reactive models.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3850E-8E71-75A6-1700-24A3A35B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3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8961783" cy="102591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660" y="1293541"/>
            <a:ext cx="11128513" cy="50628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Digital transformation increases vulnerability of national critical infrastructure.</a:t>
            </a:r>
          </a:p>
          <a:p>
            <a:pPr marL="0" indent="0">
              <a:buNone/>
            </a:pPr>
            <a:r>
              <a:rPr lang="en-US" dirty="0"/>
              <a:t>CISA: </a:t>
            </a:r>
            <a:r>
              <a:rPr lang="en-US" b="1" dirty="0"/>
              <a:t>285% rise</a:t>
            </a:r>
            <a:r>
              <a:rPr lang="en-US" dirty="0"/>
              <a:t> in cyber-attacks on critical infrastructure (2015–2023).</a:t>
            </a:r>
          </a:p>
          <a:p>
            <a:pPr marL="0" indent="0">
              <a:buNone/>
            </a:pPr>
            <a:r>
              <a:rPr lang="en-US" dirty="0"/>
              <a:t>Notable incidents:</a:t>
            </a:r>
          </a:p>
          <a:p>
            <a:pPr lvl="1"/>
            <a:r>
              <a:rPr lang="en-US" dirty="0"/>
              <a:t>SolarWinds (2020) – systemic supply-chain breach</a:t>
            </a:r>
          </a:p>
          <a:p>
            <a:pPr lvl="1"/>
            <a:r>
              <a:rPr lang="en-US" dirty="0"/>
              <a:t>Colonial Pipeline (2021) – ransomware affecting national logistics</a:t>
            </a:r>
          </a:p>
          <a:p>
            <a:pPr marL="0" indent="0">
              <a:buNone/>
            </a:pPr>
            <a:r>
              <a:rPr lang="en-US" dirty="0"/>
              <a:t>Research Aims:</a:t>
            </a:r>
          </a:p>
          <a:p>
            <a:pPr lvl="1"/>
            <a:r>
              <a:rPr lang="en-US" dirty="0"/>
              <a:t>Classify modern cyber warfare tactics</a:t>
            </a:r>
          </a:p>
          <a:p>
            <a:pPr lvl="1"/>
            <a:r>
              <a:rPr lang="en-US" dirty="0"/>
              <a:t>Examine national defense effectiveness</a:t>
            </a:r>
          </a:p>
          <a:p>
            <a:pPr lvl="1"/>
            <a:r>
              <a:rPr lang="en-US" dirty="0"/>
              <a:t>Identify legal/policy gaps</a:t>
            </a:r>
          </a:p>
          <a:p>
            <a:pPr lvl="1"/>
            <a:r>
              <a:rPr lang="en-US" dirty="0"/>
              <a:t>Propose MLSDM</a:t>
            </a:r>
          </a:p>
          <a:p>
            <a:pPr lvl="1"/>
            <a:r>
              <a:rPr lang="en-US" dirty="0"/>
              <a:t>Align cyber capabilities with national security strategy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41543-DE76-6AA9-D9CF-861775E8A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66B5C-33CF-E7BD-7E5A-5EC8221F3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591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D3037-28D4-E06B-1BC2-C3B3EAE0B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540"/>
            <a:ext cx="10515600" cy="506280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Do We Need to Know?</a:t>
            </a:r>
          </a:p>
          <a:p>
            <a:pPr marL="0" indent="0">
              <a:buNone/>
            </a:pPr>
            <a:r>
              <a:rPr lang="en-US" dirty="0"/>
              <a:t>This research is guided by four key questions:</a:t>
            </a:r>
            <a:br>
              <a:rPr lang="en-US" dirty="0"/>
            </a:br>
            <a:r>
              <a:rPr lang="en-US" b="1" dirty="0"/>
              <a:t>RQ1: </a:t>
            </a:r>
            <a:r>
              <a:rPr lang="en-US" dirty="0"/>
              <a:t>How can we categorize modern cyber-tactics by their </a:t>
            </a:r>
            <a:r>
              <a:rPr lang="en-US" i="1" dirty="0"/>
              <a:t>strategic </a:t>
            </a:r>
            <a:r>
              <a:rPr lang="en-US" dirty="0"/>
              <a:t>objectives, not just their technical mechanisms?</a:t>
            </a:r>
            <a:br>
              <a:rPr lang="en-US" dirty="0"/>
            </a:br>
            <a:r>
              <a:rPr lang="en-US" b="1" dirty="0"/>
              <a:t>RQ2: </a:t>
            </a:r>
            <a:r>
              <a:rPr lang="en-US" dirty="0"/>
              <a:t>Where do current national cybersecurity frameworks fail against adaptive threats?</a:t>
            </a:r>
            <a:br>
              <a:rPr lang="en-US" dirty="0"/>
            </a:br>
            <a:r>
              <a:rPr lang="en-US" b="1" dirty="0"/>
              <a:t>RQ3: </a:t>
            </a:r>
            <a:r>
              <a:rPr lang="en-US" dirty="0"/>
              <a:t>What are the biggest practical barriers to implementing better </a:t>
            </a:r>
            <a:r>
              <a:rPr lang="en-US" dirty="0" err="1"/>
              <a:t>defences</a:t>
            </a:r>
            <a:r>
              <a:rPr lang="en-US" dirty="0"/>
              <a:t>?</a:t>
            </a:r>
            <a:br>
              <a:rPr lang="en-US" dirty="0"/>
            </a:br>
            <a:r>
              <a:rPr lang="en-US" b="1" dirty="0"/>
              <a:t>RQ4: </a:t>
            </a:r>
            <a:r>
              <a:rPr lang="en-US" dirty="0"/>
              <a:t>What would an effective, integrated strategic </a:t>
            </a:r>
            <a:r>
              <a:rPr lang="en-US" dirty="0" err="1"/>
              <a:t>defence</a:t>
            </a:r>
            <a:r>
              <a:rPr lang="en-US" dirty="0"/>
              <a:t> framework look like, and does it work?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DFCAF-1411-55DB-9D2F-CFC64D9C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93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4381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0341"/>
            <a:ext cx="10515600" cy="5376009"/>
          </a:xfrm>
        </p:spPr>
        <p:txBody>
          <a:bodyPr>
            <a:normAutofit/>
          </a:bodyPr>
          <a:lstStyle/>
          <a:p>
            <a:r>
              <a:rPr lang="en-US" dirty="0"/>
              <a:t>Cyber warfare conceptual foundations (</a:t>
            </a:r>
            <a:r>
              <a:rPr lang="en-US" dirty="0" err="1"/>
              <a:t>Libicki</a:t>
            </a:r>
            <a:r>
              <a:rPr lang="en-US" dirty="0"/>
              <a:t>, Rid).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Frameworks:</a:t>
            </a:r>
          </a:p>
          <a:p>
            <a:pPr lvl="1"/>
            <a:r>
              <a:rPr lang="en-US" b="1" dirty="0"/>
              <a:t>MITRE ATT&amp;CK</a:t>
            </a:r>
            <a:r>
              <a:rPr lang="en-US" dirty="0"/>
              <a:t> (adversary behavior mapping)</a:t>
            </a:r>
          </a:p>
          <a:p>
            <a:pPr lvl="1"/>
            <a:r>
              <a:rPr lang="en-US" b="1" dirty="0"/>
              <a:t>Cyber Kill Chain</a:t>
            </a:r>
            <a:r>
              <a:rPr lang="en-US" dirty="0"/>
              <a:t> (intrusion lifecycle)</a:t>
            </a:r>
          </a:p>
          <a:p>
            <a:pPr lvl="1"/>
            <a:r>
              <a:rPr lang="en-US" dirty="0"/>
              <a:t>International law: </a:t>
            </a:r>
            <a:r>
              <a:rPr lang="en-US" b="1" dirty="0"/>
              <a:t>Tallinn Manual 2.0</a:t>
            </a:r>
            <a:r>
              <a:rPr lang="en-US" dirty="0"/>
              <a:t> – lacks enforcement authority.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Gap identified:</a:t>
            </a:r>
          </a:p>
          <a:p>
            <a:pPr lvl="1"/>
            <a:r>
              <a:rPr lang="en-US" dirty="0"/>
              <a:t>Weak integration of technical defenses with national strategic goals.</a:t>
            </a:r>
          </a:p>
          <a:p>
            <a:pPr lvl="1"/>
            <a:r>
              <a:rPr lang="en-US" dirty="0"/>
              <a:t>Insufficient empirical analysis of AI-based attacks and quantum era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12FA-1761-38B6-1F40-8F97B562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0590-6028-E1F5-59FF-8A17E14F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4381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Multi-Method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0CEF8-BA0E-DF75-2530-3A97C9983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0341"/>
            <a:ext cx="10515600" cy="5376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Three-Phase, Evidence-Based Methodology.</a:t>
            </a:r>
          </a:p>
          <a:p>
            <a:pPr marL="0" indent="0">
              <a:buNone/>
            </a:pPr>
            <a:r>
              <a:rPr lang="en-US" b="1" dirty="0"/>
              <a:t>Phase 1: Qualitative Deep Dive</a:t>
            </a:r>
          </a:p>
          <a:p>
            <a:r>
              <a:rPr lang="en-US" b="1" dirty="0"/>
              <a:t>Case Study Analysis: </a:t>
            </a:r>
            <a:r>
              <a:rPr lang="en-US" dirty="0"/>
              <a:t>Deconstruct real-world attacks (</a:t>
            </a:r>
            <a:r>
              <a:rPr lang="en-US" dirty="0" err="1"/>
              <a:t>MOVEit</a:t>
            </a:r>
            <a:r>
              <a:rPr lang="en-US" dirty="0"/>
              <a:t>, Storm-0558) using MITRE ATT&amp;CK framework.</a:t>
            </a:r>
          </a:p>
          <a:p>
            <a:r>
              <a:rPr lang="en-US" b="1" dirty="0"/>
              <a:t>Expert Delphi Study: </a:t>
            </a:r>
            <a:r>
              <a:rPr lang="en-US" dirty="0"/>
              <a:t>Survey 25+ experts to identify and prioritize implementation barriers.</a:t>
            </a:r>
          </a:p>
          <a:p>
            <a:pPr marL="0" indent="0">
              <a:buNone/>
            </a:pPr>
            <a:r>
              <a:rPr lang="en-US" b="1" dirty="0"/>
              <a:t>Phase 2: Quantitative Trend Analysis</a:t>
            </a:r>
          </a:p>
          <a:p>
            <a:r>
              <a:rPr lang="en-US" dirty="0"/>
              <a:t>Analyze public threat reports (2021-2024) to identify macro-trends.</a:t>
            </a:r>
          </a:p>
          <a:p>
            <a:pPr marL="0" indent="0">
              <a:buNone/>
            </a:pPr>
            <a:r>
              <a:rPr lang="en-US" b="1" dirty="0"/>
              <a:t>Phase 3: Experimental Simulation</a:t>
            </a:r>
          </a:p>
          <a:p>
            <a:r>
              <a:rPr lang="en-US" b="1" dirty="0"/>
              <a:t>Agent-Based Model(ABM): </a:t>
            </a:r>
            <a:r>
              <a:rPr lang="en-US" dirty="0"/>
              <a:t>Test the proposed framework against a traditional model in a simulated environment.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A6E03-6BFF-4C89-4BEA-2E748D92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2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36525"/>
            <a:ext cx="11093605" cy="1045503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82028"/>
            <a:ext cx="10825977" cy="5539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Mixed-method approach combining: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Quantitative</a:t>
            </a:r>
          </a:p>
          <a:p>
            <a:pPr lvl="1"/>
            <a:r>
              <a:rPr lang="en-US" dirty="0"/>
              <a:t>Analysis of 2,847 cyber incidents from OSINT databases.</a:t>
            </a:r>
          </a:p>
          <a:p>
            <a:pPr lvl="1"/>
            <a:r>
              <a:rPr lang="en-US" dirty="0"/>
              <a:t>Supply-chain, APT, and infrastructure attack patterns.</a:t>
            </a:r>
          </a:p>
          <a:p>
            <a:pPr marL="0" indent="0">
              <a:buNone/>
            </a:pPr>
            <a:r>
              <a:rPr lang="en-US" b="1" dirty="0"/>
              <a:t>Qualitative</a:t>
            </a:r>
          </a:p>
          <a:p>
            <a:pPr lvl="1"/>
            <a:r>
              <a:rPr lang="en-US" dirty="0"/>
              <a:t>Six major case studies (SolarWinds, </a:t>
            </a:r>
            <a:r>
              <a:rPr lang="en-US" dirty="0" err="1"/>
              <a:t>NotPetya</a:t>
            </a:r>
            <a:r>
              <a:rPr lang="en-US" dirty="0"/>
              <a:t>, Colonial Pipeline, etc.)</a:t>
            </a:r>
          </a:p>
          <a:p>
            <a:pPr lvl="1"/>
            <a:r>
              <a:rPr lang="en-US" dirty="0"/>
              <a:t>Comparative analysis of 12 countries’ cyber strategies.</a:t>
            </a:r>
          </a:p>
          <a:p>
            <a:pPr marL="0" indent="0">
              <a:buNone/>
            </a:pPr>
            <a:r>
              <a:rPr lang="en-US" b="1" dirty="0"/>
              <a:t>Validation</a:t>
            </a:r>
          </a:p>
          <a:p>
            <a:pPr lvl="1"/>
            <a:r>
              <a:rPr lang="en-US" dirty="0"/>
              <a:t>Expert reviews (12 experts)</a:t>
            </a:r>
          </a:p>
          <a:p>
            <a:pPr lvl="1"/>
            <a:r>
              <a:rPr lang="en-US" dirty="0"/>
              <a:t>Triangulation</a:t>
            </a:r>
          </a:p>
          <a:p>
            <a:pPr lvl="1"/>
            <a:r>
              <a:rPr lang="en-US" dirty="0"/>
              <a:t>Intercoder reliability (0.87 Cohen’s Kappa)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70CFB-5FD5-AE7B-A4B1-1029E021C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FA699-0A93-AB36-0988-39C3BBAF1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1093605" cy="140017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Solution: An integrated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3C326-553A-4F31-8CBF-42BF2A8CF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823" y="1651000"/>
            <a:ext cx="10825977" cy="50704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Silos to Synergy; A National Cyber </a:t>
            </a:r>
            <a:r>
              <a:rPr lang="en-US" dirty="0" err="1"/>
              <a:t>Defence</a:t>
            </a:r>
            <a:r>
              <a:rPr lang="en-US" dirty="0"/>
              <a:t> Network.</a:t>
            </a:r>
          </a:p>
          <a:p>
            <a:pPr marL="0" indent="0">
              <a:buNone/>
            </a:pPr>
            <a:r>
              <a:rPr lang="en-US" dirty="0"/>
              <a:t>Introducing a hub-and-spoke model: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 National Cyber Intelligence Fusion Cell for Analysis and coordination.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Critical Infrastructure Sectors (Energy, Finance, Health) with bi-</a:t>
            </a:r>
          </a:p>
          <a:p>
            <a:pPr marL="0" indent="0">
              <a:buNone/>
            </a:pPr>
            <a:r>
              <a:rPr lang="en-US" dirty="0"/>
              <a:t>directional, real-time threat sharing.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Core Principle:</a:t>
            </a:r>
            <a:r>
              <a:rPr lang="en-US" dirty="0"/>
              <a:t> Collective intelligence enables proactive, coordinated </a:t>
            </a:r>
            <a:r>
              <a:rPr lang="en-US" dirty="0" err="1"/>
              <a:t>defence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AEA1B-EF40-1ADB-1636-C22A551E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65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339" y="136527"/>
            <a:ext cx="6737939" cy="978596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19" y="1115123"/>
            <a:ext cx="6737939" cy="56063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Validating the Framework with Computational Experimentation.</a:t>
            </a:r>
          </a:p>
          <a:p>
            <a:pPr marL="0" indent="0">
              <a:buNone/>
            </a:pPr>
            <a:r>
              <a:rPr lang="en-US" b="1" dirty="0"/>
              <a:t>Tool:</a:t>
            </a:r>
            <a:r>
              <a:rPr lang="en-US" dirty="0"/>
              <a:t> Agent-Based Model (ABM) built in Python.</a:t>
            </a:r>
          </a:p>
          <a:p>
            <a:pPr marL="0" indent="0">
              <a:buNone/>
            </a:pPr>
            <a:r>
              <a:rPr lang="en-US" b="1" dirty="0"/>
              <a:t>What We Simulate:</a:t>
            </a:r>
            <a:r>
              <a:rPr lang="en-US" dirty="0"/>
              <a:t> A simulated national network with two </a:t>
            </a:r>
            <a:r>
              <a:rPr lang="en-US" dirty="0" err="1"/>
              <a:t>defence</a:t>
            </a:r>
            <a:r>
              <a:rPr lang="en-US" dirty="0"/>
              <a:t> setups:</a:t>
            </a:r>
          </a:p>
          <a:p>
            <a:pPr marL="0" indent="0">
              <a:buNone/>
            </a:pPr>
            <a:r>
              <a:rPr lang="en-US" dirty="0"/>
              <a:t>* </a:t>
            </a:r>
            <a:r>
              <a:rPr lang="en-US" b="1" dirty="0"/>
              <a:t>Condition A (Baseline):</a:t>
            </a:r>
            <a:r>
              <a:rPr lang="en-US" dirty="0"/>
              <a:t> Siloed, traditional </a:t>
            </a:r>
            <a:r>
              <a:rPr lang="en-US" dirty="0" err="1"/>
              <a:t>defence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* </a:t>
            </a:r>
            <a:r>
              <a:rPr lang="en-US" b="1" dirty="0"/>
              <a:t>Condition B (Intervention):</a:t>
            </a:r>
            <a:r>
              <a:rPr lang="en-US" dirty="0"/>
              <a:t> Our proposed integrated framework.</a:t>
            </a:r>
          </a:p>
          <a:p>
            <a:pPr marL="0" indent="0">
              <a:buNone/>
            </a:pPr>
            <a:r>
              <a:rPr lang="en-US" b="1" dirty="0"/>
              <a:t>What We Measure: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* Mean Time to Detection (MTTD)</a:t>
            </a:r>
          </a:p>
          <a:p>
            <a:pPr marL="0" indent="0">
              <a:buNone/>
            </a:pPr>
            <a:r>
              <a:rPr lang="en-US" dirty="0"/>
              <a:t>* Lateral Movement Speed</a:t>
            </a:r>
          </a:p>
          <a:p>
            <a:pPr marL="0" indent="0">
              <a:buNone/>
            </a:pPr>
            <a:r>
              <a:rPr lang="en-US" dirty="0"/>
              <a:t>* Overall Impact Score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" name="Picture 8" descr="A diagram of a system&#10;&#10;AI-generated content may be incorrect.">
            <a:extLst>
              <a:ext uri="{FF2B5EF4-FFF2-40B4-BE49-F238E27FC236}">
                <a16:creationId xmlns:a16="http://schemas.microsoft.com/office/drawing/2014/main" id="{972150F6-EF6B-B1B3-FA62-F1A628EEC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070" y="136525"/>
            <a:ext cx="5671930" cy="658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6F07E-8F87-C660-CBBC-07A825DE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D0B70-0D38-95E3-1F56-D06DD4854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" y="136527"/>
            <a:ext cx="10753808" cy="978596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Cyber Warfare Tactics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DBA47-366B-E47B-8A15-B7953779A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19" y="1115123"/>
            <a:ext cx="11371029" cy="5606352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3200" b="1" dirty="0"/>
              <a:t>Main categories:</a:t>
            </a:r>
          </a:p>
          <a:p>
            <a:pPr lvl="1"/>
            <a:r>
              <a:rPr lang="en-US" sz="2800" b="1" dirty="0"/>
              <a:t>Intelligence Gathering</a:t>
            </a:r>
            <a:r>
              <a:rPr lang="en-US" sz="2800" dirty="0"/>
              <a:t> – espionage, supply-chain compromise.</a:t>
            </a:r>
          </a:p>
          <a:p>
            <a:pPr lvl="1"/>
            <a:r>
              <a:rPr lang="en-US" sz="2800" b="1" dirty="0"/>
              <a:t>Infrastructure Sabotage</a:t>
            </a:r>
            <a:r>
              <a:rPr lang="en-US" sz="2800" dirty="0"/>
              <a:t> – wipers, ICS/SCADA attacks.</a:t>
            </a:r>
          </a:p>
          <a:p>
            <a:pPr lvl="1"/>
            <a:r>
              <a:rPr lang="en-US" sz="2800" b="1" dirty="0"/>
              <a:t>Influence Operations</a:t>
            </a:r>
            <a:r>
              <a:rPr lang="en-US" sz="2800" dirty="0"/>
              <a:t> – deepfakes, misinformation.</a:t>
            </a:r>
          </a:p>
          <a:p>
            <a:pPr lvl="1"/>
            <a:r>
              <a:rPr lang="en-US" sz="2800" b="1" dirty="0"/>
              <a:t>Economic Warfare</a:t>
            </a:r>
            <a:r>
              <a:rPr lang="en-US" sz="2800" dirty="0"/>
              <a:t> – banking system attacks, ransomware.</a:t>
            </a:r>
          </a:p>
          <a:p>
            <a:pPr lvl="1"/>
            <a:r>
              <a:rPr lang="en-US" sz="2800" b="1" dirty="0"/>
              <a:t>Logistics Disruption</a:t>
            </a:r>
            <a:r>
              <a:rPr lang="en-US" sz="2800" dirty="0"/>
              <a:t> – GPS spoofing, transport disruptions.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3200" b="1" dirty="0"/>
              <a:t>Trends:</a:t>
            </a:r>
          </a:p>
          <a:p>
            <a:pPr lvl="1"/>
            <a:r>
              <a:rPr lang="en-US" sz="2800" dirty="0"/>
              <a:t>Supply-chain attacks increased </a:t>
            </a:r>
            <a:r>
              <a:rPr lang="en-US" sz="2800" b="1" dirty="0"/>
              <a:t>340% since 2018</a:t>
            </a:r>
            <a:r>
              <a:rPr lang="en-US" sz="2800" dirty="0"/>
              <a:t>.</a:t>
            </a:r>
          </a:p>
          <a:p>
            <a:pPr lvl="1"/>
            <a:r>
              <a:rPr lang="en-US" sz="2800" dirty="0"/>
              <a:t>AI-enabled social engineering and automated exploitation.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2EC87-4E54-C795-B953-456B131D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70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80348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 &amp;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4333"/>
            <a:ext cx="10515600" cy="4972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Building a Credible Case for Strategic Change.</a:t>
            </a:r>
          </a:p>
          <a:p>
            <a:pPr marL="0" indent="0">
              <a:buNone/>
            </a:pPr>
            <a:r>
              <a:rPr lang="en-US" b="1" dirty="0"/>
              <a:t>Anticipated Findings: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* A clear taxonomy of tactics by strategic intent.</a:t>
            </a:r>
          </a:p>
          <a:p>
            <a:pPr marL="0" indent="0">
              <a:buNone/>
            </a:pPr>
            <a:r>
              <a:rPr lang="en-US" dirty="0"/>
              <a:t>* A prioritized list of critical implementation barriers.</a:t>
            </a:r>
          </a:p>
          <a:p>
            <a:pPr marL="0" indent="0">
              <a:buNone/>
            </a:pPr>
            <a:r>
              <a:rPr lang="en-US" dirty="0"/>
              <a:t>* </a:t>
            </a:r>
            <a:r>
              <a:rPr lang="en-US" b="1" dirty="0"/>
              <a:t>Quantitative evidence</a:t>
            </a:r>
            <a:r>
              <a:rPr lang="en-US" dirty="0"/>
              <a:t> from the ABM showing the integrated framework's superiority in reducing detection times and minimizing impact.</a:t>
            </a:r>
          </a:p>
          <a:p>
            <a:pPr marL="0" indent="0">
              <a:buNone/>
            </a:pPr>
            <a:r>
              <a:rPr lang="en-US" b="1" dirty="0"/>
              <a:t>Key Contribution:</a:t>
            </a:r>
            <a:r>
              <a:rPr lang="en-US" dirty="0"/>
              <a:t> This research provides an </a:t>
            </a:r>
            <a:r>
              <a:rPr lang="en-US" b="1" dirty="0"/>
              <a:t>evidence-based blueprint</a:t>
            </a:r>
            <a:r>
              <a:rPr lang="en-US" dirty="0"/>
              <a:t> for policymakers to transition from reactive compliance to proactive, resilient national cyber </a:t>
            </a:r>
            <a:r>
              <a:rPr lang="en-US" dirty="0" err="1"/>
              <a:t>defence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2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2B25-2ABD-F39A-1214-19C7507B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AC87-32D3-B322-D5E2-EBDBCBC82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880348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NotPetya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32F9A-F68C-7DAD-3658-B921C7E64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4333"/>
            <a:ext cx="10515600" cy="4972630"/>
          </a:xfrm>
        </p:spPr>
        <p:txBody>
          <a:bodyPr>
            <a:normAutofit/>
          </a:bodyPr>
          <a:lstStyle/>
          <a:p>
            <a:r>
              <a:rPr lang="en-US" dirty="0"/>
              <a:t>Appeared as ransomware but was a </a:t>
            </a:r>
            <a:r>
              <a:rPr lang="en-US" b="1" dirty="0"/>
              <a:t>destructive wiper</a:t>
            </a:r>
            <a:r>
              <a:rPr lang="en-US" dirty="0"/>
              <a:t>.</a:t>
            </a:r>
          </a:p>
          <a:p>
            <a:r>
              <a:rPr lang="en-US" dirty="0"/>
              <a:t>Used compromised update mechanism (</a:t>
            </a:r>
            <a:r>
              <a:rPr lang="en-US" dirty="0" err="1"/>
              <a:t>M.E.Doc</a:t>
            </a:r>
            <a:r>
              <a:rPr lang="en-US" dirty="0"/>
              <a:t>).</a:t>
            </a:r>
          </a:p>
          <a:p>
            <a:r>
              <a:rPr lang="en-US" dirty="0"/>
              <a:t>Spread globally → </a:t>
            </a:r>
            <a:r>
              <a:rPr lang="en-US" b="1" dirty="0"/>
              <a:t>$10 billion damages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lessons:</a:t>
            </a:r>
          </a:p>
          <a:p>
            <a:pPr lvl="1"/>
            <a:r>
              <a:rPr lang="en-US" sz="2800" dirty="0"/>
              <a:t>State-sponsored attacks blur lines between crime &amp; warfare.</a:t>
            </a:r>
          </a:p>
          <a:p>
            <a:pPr lvl="1"/>
            <a:r>
              <a:rPr lang="en-US" sz="2800" dirty="0"/>
              <a:t>Attribution challenges complicate response.</a:t>
            </a:r>
          </a:p>
          <a:p>
            <a:pPr lvl="1"/>
            <a:r>
              <a:rPr lang="en-US" sz="2800" dirty="0"/>
              <a:t>Interconnected digital ecosystems amplify collateral damage.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4EBB8-E217-1B47-8244-65BD6C6E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58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2964"/>
            <a:ext cx="11168270" cy="79970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Cyber Strategies: Comparative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9108"/>
            <a:ext cx="10515600" cy="54959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4 Strategic Models Identified:</a:t>
            </a:r>
          </a:p>
          <a:p>
            <a:r>
              <a:rPr lang="en-US" sz="2400" b="1" dirty="0"/>
              <a:t>Whole-Nation Approach</a:t>
            </a:r>
            <a:r>
              <a:rPr lang="en-US" sz="2400" dirty="0"/>
              <a:t> (US, UK, Israel)</a:t>
            </a:r>
          </a:p>
          <a:p>
            <a:pPr lvl="1"/>
            <a:r>
              <a:rPr lang="en-US" sz="2000" dirty="0"/>
              <a:t>Strengths: innovation, resources</a:t>
            </a:r>
          </a:p>
          <a:p>
            <a:pPr lvl="1"/>
            <a:r>
              <a:rPr lang="en-US" sz="2000" dirty="0"/>
              <a:t>Weakness: bureaucracy, coordination issues</a:t>
            </a:r>
          </a:p>
          <a:p>
            <a:r>
              <a:rPr lang="en-US" sz="2400" b="1" dirty="0"/>
              <a:t>Sovereign Internet Model</a:t>
            </a:r>
            <a:r>
              <a:rPr lang="en-US" sz="2400" dirty="0"/>
              <a:t> (China, Russia)</a:t>
            </a:r>
          </a:p>
          <a:p>
            <a:pPr lvl="1"/>
            <a:r>
              <a:rPr lang="en-US" sz="2000" dirty="0"/>
              <a:t>Strengths: fast directives</a:t>
            </a:r>
          </a:p>
          <a:p>
            <a:pPr lvl="1"/>
            <a:r>
              <a:rPr lang="en-US" sz="2000" dirty="0"/>
              <a:t>Weakness: limited global cooperation</a:t>
            </a:r>
          </a:p>
          <a:p>
            <a:r>
              <a:rPr lang="en-US" sz="2400" b="1" dirty="0"/>
              <a:t>Collective </a:t>
            </a:r>
            <a:r>
              <a:rPr lang="en-US" sz="2400" b="1" dirty="0" err="1"/>
              <a:t>Defence</a:t>
            </a:r>
            <a:r>
              <a:rPr lang="en-US" sz="2400" b="1" dirty="0"/>
              <a:t> Model</a:t>
            </a:r>
            <a:r>
              <a:rPr lang="en-US" sz="2400" dirty="0"/>
              <a:t> (NATO, EU)</a:t>
            </a:r>
          </a:p>
          <a:p>
            <a:pPr lvl="1"/>
            <a:r>
              <a:rPr lang="en-US" sz="2000" dirty="0"/>
              <a:t>Strengths: mutual support, intelligence sharing</a:t>
            </a:r>
          </a:p>
          <a:p>
            <a:pPr lvl="1"/>
            <a:r>
              <a:rPr lang="en-US" sz="2000" dirty="0"/>
              <a:t>Weakness: slow joint decisions</a:t>
            </a:r>
          </a:p>
          <a:p>
            <a:r>
              <a:rPr lang="en-US" sz="2400" b="1" dirty="0"/>
              <a:t>Neutrality-Based Model</a:t>
            </a:r>
            <a:r>
              <a:rPr lang="en-US" sz="2400" dirty="0"/>
              <a:t> (Sweden, Switzerland)</a:t>
            </a:r>
          </a:p>
          <a:p>
            <a:pPr lvl="1"/>
            <a:r>
              <a:rPr lang="en-US" sz="2000" dirty="0"/>
              <a:t>Strengths: conflict avoidance, strong norms</a:t>
            </a:r>
          </a:p>
          <a:p>
            <a:pPr lvl="1"/>
            <a:r>
              <a:rPr lang="en-US" sz="2000" dirty="0"/>
              <a:t>Weakness: weak offensive/deterrence posture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65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8E6BF-E8FA-511B-5F4A-BB1210856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1BDD-604C-C5D5-D962-0B7CFBF9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964"/>
            <a:ext cx="10515600" cy="89614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Capability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932C7-B1CD-E196-D05B-B8EA969BF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108"/>
            <a:ext cx="10515600" cy="54959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Attribution Lag</a:t>
            </a:r>
            <a:r>
              <a:rPr lang="en-US" sz="2400" dirty="0"/>
              <a:t>: avg. </a:t>
            </a:r>
            <a:r>
              <a:rPr lang="en-US" sz="2400" b="1" dirty="0"/>
              <a:t>187 days</a:t>
            </a:r>
            <a:r>
              <a:rPr lang="en-US" sz="2400" dirty="0"/>
              <a:t> to attribute state-sponsored attacks.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Public–Private Gaps</a:t>
            </a:r>
            <a:r>
              <a:rPr lang="en-US" sz="2400" dirty="0"/>
              <a:t>: only 1/3 of critical infrastructure receives actionable threat intel.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Cyber Workforce Shortage</a:t>
            </a:r>
            <a:r>
              <a:rPr lang="en-US" sz="2400" dirty="0"/>
              <a:t>: 3.4 million professionals needed globally.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Weak Software Supply Chain Defenses</a:t>
            </a:r>
            <a:r>
              <a:rPr lang="en-US" sz="2400" dirty="0"/>
              <a:t> (highlighted by SolarWinds).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Fragmented legal norms</a:t>
            </a:r>
            <a:r>
              <a:rPr lang="en-US" sz="2400" dirty="0"/>
              <a:t> controlling state cyber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7CC92-4D46-72D4-B264-F92CFB09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88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F027A-31CC-938D-BA20-F2FAE85C8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E60B-3823-6B66-6996-20495CB24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1099800" cy="89614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Multi-Layered Strategic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(MLSDM)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79453-DCF8-9984-D8E1-88D283129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108"/>
            <a:ext cx="10515600" cy="5495928"/>
          </a:xfrm>
        </p:spPr>
        <p:txBody>
          <a:bodyPr>
            <a:noAutofit/>
          </a:bodyPr>
          <a:lstStyle/>
          <a:p>
            <a:r>
              <a:rPr lang="en-US" sz="2400" b="1" dirty="0"/>
              <a:t>Layer 1: Strategic Governance</a:t>
            </a:r>
          </a:p>
          <a:p>
            <a:pPr lvl="1"/>
            <a:r>
              <a:rPr lang="en-US" sz="2000" dirty="0"/>
              <a:t>Dynamic policy framework</a:t>
            </a:r>
          </a:p>
          <a:p>
            <a:pPr lvl="1"/>
            <a:r>
              <a:rPr lang="en-US" sz="2000" dirty="0"/>
              <a:t>Cyber diplomacy &amp; norms-building</a:t>
            </a:r>
          </a:p>
          <a:p>
            <a:pPr lvl="1"/>
            <a:r>
              <a:rPr lang="en-US" sz="2000" dirty="0"/>
              <a:t>Adaptive authorization processes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Layer 2: Operational Intelligence</a:t>
            </a:r>
          </a:p>
          <a:p>
            <a:pPr lvl="1"/>
            <a:r>
              <a:rPr lang="en-US" sz="2000" dirty="0"/>
              <a:t>National Cyber Intelligence Fusion Center (NCIFC)</a:t>
            </a:r>
          </a:p>
          <a:p>
            <a:pPr lvl="1"/>
            <a:r>
              <a:rPr lang="en-US" sz="2000" dirty="0"/>
              <a:t>Predictive analytics, AI-driven threat modeling</a:t>
            </a:r>
          </a:p>
          <a:p>
            <a:pPr lvl="1"/>
            <a:r>
              <a:rPr lang="en-US" sz="2000" dirty="0"/>
              <a:t>Automated indicator sharing (STIX/TAXII)</a:t>
            </a:r>
            <a:br>
              <a:rPr lang="en-US" sz="2000" dirty="0"/>
            </a:br>
            <a:endParaRPr lang="en-US" sz="2000" dirty="0"/>
          </a:p>
          <a:p>
            <a:r>
              <a:rPr lang="en-US" sz="2400" b="1" dirty="0"/>
              <a:t>Layer 3: Tactical Defense</a:t>
            </a:r>
          </a:p>
          <a:p>
            <a:pPr lvl="1"/>
            <a:r>
              <a:rPr lang="en-US" sz="2000" dirty="0"/>
              <a:t>Zero-trust infrastructures</a:t>
            </a:r>
          </a:p>
          <a:p>
            <a:pPr lvl="1"/>
            <a:r>
              <a:rPr lang="en-US" sz="2000" dirty="0"/>
              <a:t>Resilience-by-design architecture</a:t>
            </a:r>
          </a:p>
          <a:p>
            <a:pPr lvl="1"/>
            <a:r>
              <a:rPr lang="en-US" sz="2000" dirty="0"/>
              <a:t>Active defense (deception, counterintelligence)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69E3F-512D-8602-CDAA-12250C22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08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5B75D-BC63-4F08-0519-E72A52A85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9013E-BD02-9937-A7C3-D454DF702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964"/>
            <a:ext cx="10515600" cy="89614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7364E-382F-A11E-8A8B-55C2691DF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108"/>
            <a:ext cx="10515600" cy="549592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Attribution ambiguity and geopolitical complexity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Increasing sophistication of AI-driven cyberattacks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Quantum computing threatening encryption standards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Fragmented international cyber norms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Overdependence on private sector infrastructure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Skilled workforce shortage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3E77C-5818-A275-2C53-AE5CC6CE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506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CEF0-6C6A-9211-B1DE-03DC7F94E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23B3-CC82-75E8-4F70-6C1AC39B4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964"/>
            <a:ext cx="10515600" cy="896145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MLSDM Implementation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FD4F0-E843-241F-21AF-126D24D65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108"/>
            <a:ext cx="10515600" cy="5495928"/>
          </a:xfrm>
        </p:spPr>
        <p:txBody>
          <a:bodyPr>
            <a:noAutofit/>
          </a:bodyPr>
          <a:lstStyle/>
          <a:p>
            <a:r>
              <a:rPr lang="en-US" sz="2400" b="1" dirty="0"/>
              <a:t>Phase 1 (Months 1–12): Foundations</a:t>
            </a:r>
          </a:p>
          <a:p>
            <a:r>
              <a:rPr lang="en-US" sz="2400" dirty="0"/>
              <a:t>Create governance structures</a:t>
            </a:r>
          </a:p>
          <a:p>
            <a:r>
              <a:rPr lang="en-US" sz="2400" dirty="0"/>
              <a:t>Build sharing protocols</a:t>
            </a:r>
          </a:p>
          <a:p>
            <a:r>
              <a:rPr lang="en-US" sz="2400" dirty="0"/>
              <a:t>Establish 5 sector analysis cells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Phase 2 (Months 13–24): Capability Development</a:t>
            </a:r>
          </a:p>
          <a:p>
            <a:r>
              <a:rPr lang="en-US" sz="2400" dirty="0"/>
              <a:t>Deploy zero-trust architectures</a:t>
            </a:r>
          </a:p>
          <a:p>
            <a:r>
              <a:rPr lang="en-US" sz="2400" dirty="0"/>
              <a:t>Map cross-sector dependencies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Phase 3 (Months 25–36): Full Operationalization</a:t>
            </a:r>
          </a:p>
          <a:p>
            <a:r>
              <a:rPr lang="en-US" sz="2400" dirty="0"/>
              <a:t>70% faster threat mitigation</a:t>
            </a:r>
          </a:p>
          <a:p>
            <a:r>
              <a:rPr lang="en-US" sz="2400" dirty="0"/>
              <a:t>90% of national infrastructure meeting resilience standards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522A1-D1EB-2F09-E308-72F6854E4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43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1188700" cy="97859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Aligning Cyber Capabilities with National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5122"/>
            <a:ext cx="10848278" cy="52412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Nations with alignment achieve </a:t>
            </a:r>
            <a:r>
              <a:rPr lang="en-US" b="1" dirty="0"/>
              <a:t>47% better incident response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Alignment Principles:</a:t>
            </a:r>
          </a:p>
          <a:p>
            <a:pPr lvl="1"/>
            <a:r>
              <a:rPr lang="en-US" dirty="0"/>
              <a:t>Threat-informed investment</a:t>
            </a:r>
          </a:p>
          <a:p>
            <a:pPr lvl="1"/>
            <a:r>
              <a:rPr lang="en-US" dirty="0"/>
              <a:t>Integrated deterrence posture</a:t>
            </a:r>
          </a:p>
          <a:p>
            <a:pPr lvl="1"/>
            <a:r>
              <a:rPr lang="en-US" dirty="0"/>
              <a:t>Cross-domain planning (cyber + military + diplomatic)</a:t>
            </a:r>
          </a:p>
          <a:p>
            <a:pPr lvl="1"/>
            <a:r>
              <a:rPr lang="en-US" dirty="0"/>
              <a:t>Private sector integration (critical infrastructure operators)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Example: Israel</a:t>
            </a:r>
          </a:p>
          <a:p>
            <a:pPr lvl="1"/>
            <a:r>
              <a:rPr lang="en-US" dirty="0"/>
              <a:t>Centralized cyber authority</a:t>
            </a:r>
          </a:p>
          <a:p>
            <a:pPr lvl="1"/>
            <a:r>
              <a:rPr lang="en-US" dirty="0"/>
              <a:t>Mandatory compliance audits</a:t>
            </a:r>
          </a:p>
          <a:p>
            <a:pPr lvl="1"/>
            <a:r>
              <a:rPr lang="en-US" dirty="0"/>
              <a:t>Civil–military ecosystem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28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25289-2144-06CA-66AA-91CF495C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D802D-F674-807D-5B21-9CBF5CE7C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78597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KPIs for National Cyber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B1CDD-837C-E162-3D56-A67849C40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5122"/>
            <a:ext cx="10848278" cy="52412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Strategic Responsiveness: </a:t>
            </a:r>
            <a:r>
              <a:rPr lang="en-US" dirty="0"/>
              <a:t>Implementation in </a:t>
            </a:r>
            <a:r>
              <a:rPr lang="en-US" b="1" dirty="0"/>
              <a:t>&lt;6 months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Threat Adaptation: </a:t>
            </a:r>
            <a:r>
              <a:rPr lang="en-US" dirty="0"/>
              <a:t>Defensive updates in </a:t>
            </a:r>
            <a:r>
              <a:rPr lang="en-US" b="1" dirty="0"/>
              <a:t>&lt;72 hours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Resilience Impact: </a:t>
            </a:r>
            <a:r>
              <a:rPr lang="en-US" dirty="0"/>
              <a:t>Downtime </a:t>
            </a:r>
            <a:r>
              <a:rPr lang="en-US" b="1" dirty="0"/>
              <a:t>&lt;4 hours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Deterrence Effectiveness:</a:t>
            </a:r>
          </a:p>
          <a:p>
            <a:pPr lvl="1"/>
            <a:r>
              <a:rPr lang="en-US" dirty="0"/>
              <a:t>50% reduction in successful attacks</a:t>
            </a:r>
          </a:p>
          <a:p>
            <a:pPr lvl="1"/>
            <a:r>
              <a:rPr lang="en-US" dirty="0"/>
              <a:t>3× increase in adversary campaign cost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E13E1-81FD-CBC6-B309-BB089258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78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B4C9-8049-4286-0CC1-AA6C5F15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2E18-83DC-04C3-8E8B-51695CD0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1010900" cy="978597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Solutions and Mitigations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71BCA-3877-9CF5-4F2B-08A0F0E55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5122"/>
            <a:ext cx="10848278" cy="52412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Solution to Challenge 1: Abstracted yet Representative Modeling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Action:</a:t>
            </a:r>
            <a:r>
              <a:rPr lang="en-US" dirty="0"/>
              <a:t> Adopted a "keep it simple but significant" principle for the ABM. The model simulates a representative sample of a national network (e.g., 500 nodes) rather than a 1:1 scale.</a:t>
            </a:r>
          </a:p>
          <a:p>
            <a:pPr marL="0" indent="0">
              <a:buNone/>
            </a:pPr>
            <a:r>
              <a:rPr lang="en-US" b="1" dirty="0"/>
              <a:t>Solution to Challenge 2: Anonymity and Structured Elicitation</a:t>
            </a:r>
            <a:endParaRPr lang="en-US" dirty="0"/>
          </a:p>
          <a:p>
            <a:r>
              <a:rPr lang="en-US" b="1" dirty="0"/>
              <a:t>Action:</a:t>
            </a:r>
            <a:r>
              <a:rPr lang="en-US" dirty="0"/>
              <a:t> Implemented a </a:t>
            </a:r>
            <a:r>
              <a:rPr lang="en-US" b="1" dirty="0"/>
              <a:t>modified Delphi method</a:t>
            </a:r>
            <a:r>
              <a:rPr lang="en-US" dirty="0"/>
              <a:t> with guaranteed anonymity across all rounds. Used structured rating scales (Likert) after an initial open-ended round to quantify subjective opinions.</a:t>
            </a:r>
          </a:p>
          <a:p>
            <a:pPr marL="0" indent="0">
              <a:buNone/>
            </a:pPr>
            <a:r>
              <a:rPr lang="en-US" b="1" dirty="0"/>
              <a:t>Solution to Challenge 3: A Priori Framework Integration</a:t>
            </a:r>
            <a:endParaRPr lang="en-US" dirty="0"/>
          </a:p>
          <a:p>
            <a:r>
              <a:rPr lang="en-US" b="1" dirty="0"/>
              <a:t>Action:</a:t>
            </a:r>
            <a:r>
              <a:rPr lang="en-US" dirty="0"/>
              <a:t> Designed the research workflow so that outputs from one phase became </a:t>
            </a:r>
            <a:r>
              <a:rPr lang="en-US" i="1" dirty="0"/>
              <a:t>direct inputs</a:t>
            </a:r>
            <a:r>
              <a:rPr lang="en-US" dirty="0"/>
              <a:t> for the next. For example, the TTPs from the case studies (Phase 1) were hardcoded into the Attacker Agent in the ABM (Phase 3).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EF4F2-29A7-5A2A-4882-634EE147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87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25283-BE72-B323-6CEB-BED8F53EC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510BA-0A91-D7B4-86E0-D3D93A6DA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78597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Prospects &amp; Research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32678-A82B-F404-10BC-7F0168F9A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5122"/>
            <a:ext cx="10848278" cy="524122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AI-driven predictive defense models</a:t>
            </a:r>
          </a:p>
          <a:p>
            <a:pPr>
              <a:lnSpc>
                <a:spcPct val="200000"/>
              </a:lnSpc>
            </a:pPr>
            <a:r>
              <a:rPr lang="en-US" dirty="0"/>
              <a:t>Adoption of quantum-resistant cryptography</a:t>
            </a:r>
          </a:p>
          <a:p>
            <a:pPr>
              <a:lnSpc>
                <a:spcPct val="200000"/>
              </a:lnSpc>
            </a:pPr>
            <a:r>
              <a:rPr lang="en-US" dirty="0"/>
              <a:t>Global cyber norms framework for conflict prevention</a:t>
            </a:r>
          </a:p>
          <a:p>
            <a:pPr>
              <a:lnSpc>
                <a:spcPct val="200000"/>
              </a:lnSpc>
            </a:pPr>
            <a:r>
              <a:rPr lang="en-US" dirty="0"/>
              <a:t>Real-time international attribution coalitions</a:t>
            </a:r>
          </a:p>
          <a:p>
            <a:pPr>
              <a:lnSpc>
                <a:spcPct val="200000"/>
              </a:lnSpc>
            </a:pPr>
            <a:r>
              <a:rPr lang="en-US" dirty="0"/>
              <a:t>Cyber-kinetic escalation modelling</a:t>
            </a:r>
          </a:p>
          <a:p>
            <a:pPr>
              <a:lnSpc>
                <a:spcPct val="200000"/>
              </a:lnSpc>
            </a:pPr>
            <a:r>
              <a:rPr lang="en-US" dirty="0"/>
              <a:t>National cyber ranges for MLSDM stress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B54F5-818E-B2F9-26C0-7D10A3E5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49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C32A-AB0B-0155-4DCC-F60E2D9E3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1579F-2282-015C-C4E6-0B63F79E3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78597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3898C-D0B8-88C5-C0E0-4EA80BE24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5122"/>
            <a:ext cx="10848278" cy="524122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The study provides:</a:t>
            </a:r>
          </a:p>
          <a:p>
            <a:pPr>
              <a:lnSpc>
                <a:spcPct val="200000"/>
              </a:lnSpc>
            </a:pPr>
            <a:r>
              <a:rPr lang="en-US" dirty="0"/>
              <a:t>✓ A detailed taxonomy of modern cyber tactics</a:t>
            </a:r>
          </a:p>
          <a:p>
            <a:pPr>
              <a:lnSpc>
                <a:spcPct val="200000"/>
              </a:lnSpc>
            </a:pPr>
            <a:r>
              <a:rPr lang="en-US" dirty="0"/>
              <a:t>✓ Comparative assessment of global defense postures</a:t>
            </a:r>
          </a:p>
          <a:p>
            <a:pPr>
              <a:lnSpc>
                <a:spcPct val="200000"/>
              </a:lnSpc>
            </a:pPr>
            <a:r>
              <a:rPr lang="en-US" dirty="0"/>
              <a:t>✓ MLSDM model integrating strategic, operational, tactical layers</a:t>
            </a:r>
          </a:p>
          <a:p>
            <a:pPr>
              <a:lnSpc>
                <a:spcPct val="200000"/>
              </a:lnSpc>
            </a:pPr>
            <a:r>
              <a:rPr lang="en-US" dirty="0"/>
              <a:t>✓ Framework for aligning cyber defense with national security</a:t>
            </a:r>
          </a:p>
          <a:p>
            <a:pPr>
              <a:lnSpc>
                <a:spcPct val="200000"/>
              </a:lnSpc>
            </a:pPr>
            <a:r>
              <a:rPr lang="en-US" dirty="0"/>
              <a:t>Strengthens strategic cyber resilience in an era of escalating cyber warfare.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10B47-7BD6-F87E-BE33-EABB567C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5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Pell Reddy, R. (2025). </a:t>
            </a:r>
            <a:r>
              <a:rPr lang="en-US" i="1" dirty="0"/>
              <a:t>Cyber Warfare: National Security Implications and Strategic Defense Mechanisms</a:t>
            </a:r>
            <a:r>
              <a:rPr lang="en-US" dirty="0"/>
              <a:t>. International Journal of Computer Trends and Technology, 73(4), 48–59. https://</a:t>
            </a:r>
            <a:r>
              <a:rPr lang="en-US" dirty="0" err="1"/>
              <a:t>doi.org</a:t>
            </a:r>
            <a:r>
              <a:rPr lang="en-US" dirty="0"/>
              <a:t>/10.14445/22312803/IJCTT-V73I4P107  </a:t>
            </a:r>
          </a:p>
          <a:p>
            <a:r>
              <a:rPr lang="en-US" dirty="0"/>
              <a:t>Tinnel, L. S., </a:t>
            </a:r>
            <a:r>
              <a:rPr lang="en-US" dirty="0" err="1"/>
              <a:t>Saydjari</a:t>
            </a:r>
            <a:r>
              <a:rPr lang="en-US" dirty="0"/>
              <a:t>, O. S., &amp; Farrell, D. (2024). </a:t>
            </a:r>
            <a:r>
              <a:rPr lang="en-US" i="1" dirty="0"/>
              <a:t>Cyberwar strategy and tactics: An analysis of cyber goals, strategies, tactics, and techniques</a:t>
            </a:r>
            <a:r>
              <a:rPr lang="en-US" dirty="0"/>
              <a:t>. </a:t>
            </a:r>
            <a:r>
              <a:rPr lang="en-US" dirty="0" err="1"/>
              <a:t>arXiv</a:t>
            </a:r>
            <a:r>
              <a:rPr lang="en-US" dirty="0"/>
              <a:t>. https://</a:t>
            </a:r>
            <a:r>
              <a:rPr lang="en-US" dirty="0" err="1"/>
              <a:t>doi.org</a:t>
            </a:r>
            <a:r>
              <a:rPr lang="en-US" dirty="0"/>
              <a:t>/10.48550/arXiv.2406.00496  </a:t>
            </a:r>
          </a:p>
          <a:p>
            <a:r>
              <a:rPr lang="en-US" dirty="0"/>
              <a:t>“Cyber Warfare: National Security Implications and Strategic Defense …” (2025). </a:t>
            </a:r>
            <a:r>
              <a:rPr lang="en-US" i="1" dirty="0"/>
              <a:t>International Journal of Computer Trends and Technology, 73</a:t>
            </a:r>
            <a:r>
              <a:rPr lang="en-US" dirty="0"/>
              <a:t>(4), 48–59.   </a:t>
            </a:r>
          </a:p>
          <a:p>
            <a:r>
              <a:rPr lang="en-US" dirty="0"/>
              <a:t>U.S. Department of Defense. (n.d.). </a:t>
            </a:r>
            <a:r>
              <a:rPr lang="en-US" i="1" dirty="0"/>
              <a:t>U.S. Department of Defense Strategy for Operating in Cyberspace</a:t>
            </a:r>
            <a:r>
              <a:rPr lang="en-US" dirty="0"/>
              <a:t>. In </a:t>
            </a:r>
            <a:r>
              <a:rPr lang="en-US" i="1" dirty="0"/>
              <a:t>Wikipedia</a:t>
            </a:r>
            <a:r>
              <a:rPr lang="en-US" dirty="0"/>
              <a:t>. Retrieved [Access Date], from https://</a:t>
            </a:r>
            <a:r>
              <a:rPr lang="en-US" dirty="0" err="1"/>
              <a:t>en.wikipedia.org</a:t>
            </a:r>
            <a:r>
              <a:rPr lang="en-US" dirty="0"/>
              <a:t>/wiki/U.S._</a:t>
            </a:r>
            <a:r>
              <a:rPr lang="en-US" dirty="0" err="1"/>
              <a:t>Department_of_Defense_Strategy_for_Operating_in_Cyberspace</a:t>
            </a:r>
            <a:r>
              <a:rPr lang="en-US" dirty="0"/>
              <a:t> 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8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6859</TotalTime>
  <Words>1790</Words>
  <Application>Microsoft Macintosh PowerPoint</Application>
  <PresentationFormat>Widescreen</PresentationFormat>
  <Paragraphs>250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Arial Black</vt:lpstr>
      <vt:lpstr>Calibri</vt:lpstr>
      <vt:lpstr>Calibri Light</vt:lpstr>
      <vt:lpstr>Casper</vt:lpstr>
      <vt:lpstr>Raleway ExtraBold</vt:lpstr>
      <vt:lpstr>Times New Roman</vt:lpstr>
      <vt:lpstr>1_Office Theme</vt:lpstr>
      <vt:lpstr>2_Office Theme</vt:lpstr>
      <vt:lpstr>Contents Slide Master</vt:lpstr>
      <vt:lpstr>PowerPoint Presentation</vt:lpstr>
      <vt:lpstr>The Problem: The Digital Batlefield is changing</vt:lpstr>
      <vt:lpstr>Abstract</vt:lpstr>
      <vt:lpstr>Introduction</vt:lpstr>
      <vt:lpstr>Research Questions</vt:lpstr>
      <vt:lpstr>Literature Review</vt:lpstr>
      <vt:lpstr>Our Multi-Method Approach</vt:lpstr>
      <vt:lpstr>Research Methodology</vt:lpstr>
      <vt:lpstr>The Proposed Solution: An integrated Defence Architecture</vt:lpstr>
      <vt:lpstr>The Simulation Model</vt:lpstr>
      <vt:lpstr>Modern Cyber Warfare Tactics</vt:lpstr>
      <vt:lpstr>Expected Results &amp; Contribution</vt:lpstr>
      <vt:lpstr>Case Study: NotPetya (2017)</vt:lpstr>
      <vt:lpstr>National Cyber Strategies: Comparative Assessment</vt:lpstr>
      <vt:lpstr>Identified Capability Gaps</vt:lpstr>
      <vt:lpstr>Multi-Layered Strategic Defence Model (MLSDM)</vt:lpstr>
      <vt:lpstr>Major Challenges</vt:lpstr>
      <vt:lpstr>MLSDM Implementation Roadmap</vt:lpstr>
      <vt:lpstr>Aligning Cyber Capabilities with National Security</vt:lpstr>
      <vt:lpstr>Key KPIs for National Cyber Alignment</vt:lpstr>
      <vt:lpstr>Implemented Solutions and Mitigations</vt:lpstr>
      <vt:lpstr>Future Prospects &amp; Research Directions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BRIAN EDWIN KIHORE</cp:lastModifiedBy>
  <cp:revision>496</cp:revision>
  <dcterms:created xsi:type="dcterms:W3CDTF">2019-01-09T10:33:58Z</dcterms:created>
  <dcterms:modified xsi:type="dcterms:W3CDTF">2025-11-15T20:16:36Z</dcterms:modified>
</cp:coreProperties>
</file>